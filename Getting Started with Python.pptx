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6E48F8-9E02-4EA0-8575-D67D4FCA9A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5A0879-0890-432F-8D1C-F497AEF54318}">
      <dgm:prSet/>
      <dgm:spPr/>
      <dgm:t>
        <a:bodyPr/>
        <a:lstStyle/>
        <a:p>
          <a:r>
            <a:rPr lang="en-GB" b="1" i="0" dirty="0"/>
            <a:t>Variables</a:t>
          </a:r>
          <a:r>
            <a:rPr lang="en-GB" b="0" i="0" dirty="0"/>
            <a:t>: Python uses dynamic typing.</a:t>
          </a:r>
          <a:endParaRPr lang="en-US" dirty="0"/>
        </a:p>
      </dgm:t>
    </dgm:pt>
    <dgm:pt modelId="{1CB43662-4F8A-4B5A-BF0F-041D44C47E7C}" type="parTrans" cxnId="{2F8CDD9A-59F1-4C5D-9D0A-920956CF54CE}">
      <dgm:prSet/>
      <dgm:spPr/>
      <dgm:t>
        <a:bodyPr/>
        <a:lstStyle/>
        <a:p>
          <a:endParaRPr lang="en-US"/>
        </a:p>
      </dgm:t>
    </dgm:pt>
    <dgm:pt modelId="{DE7F9410-BFCC-4428-B67F-3BF42763511E}" type="sibTrans" cxnId="{2F8CDD9A-59F1-4C5D-9D0A-920956CF54CE}">
      <dgm:prSet/>
      <dgm:spPr/>
      <dgm:t>
        <a:bodyPr/>
        <a:lstStyle/>
        <a:p>
          <a:endParaRPr lang="en-US"/>
        </a:p>
      </dgm:t>
    </dgm:pt>
    <dgm:pt modelId="{0CACB593-A4C9-4577-8335-2F4AA0E7A741}">
      <dgm:prSet/>
      <dgm:spPr/>
      <dgm:t>
        <a:bodyPr/>
        <a:lstStyle/>
        <a:p>
          <a:r>
            <a:rPr lang="en-GB"/>
            <a:t>x = 5</a:t>
          </a:r>
          <a:endParaRPr lang="en-US"/>
        </a:p>
      </dgm:t>
    </dgm:pt>
    <dgm:pt modelId="{11F5DF6A-A1CD-489A-B272-BEEBFDDB5817}" type="parTrans" cxnId="{5F21141D-F7D8-4548-B9D4-BEFF035FF7D9}">
      <dgm:prSet/>
      <dgm:spPr/>
      <dgm:t>
        <a:bodyPr/>
        <a:lstStyle/>
        <a:p>
          <a:endParaRPr lang="en-US"/>
        </a:p>
      </dgm:t>
    </dgm:pt>
    <dgm:pt modelId="{6060F99B-99E1-447E-84F5-318EF24F48FD}" type="sibTrans" cxnId="{5F21141D-F7D8-4548-B9D4-BEFF035FF7D9}">
      <dgm:prSet/>
      <dgm:spPr/>
      <dgm:t>
        <a:bodyPr/>
        <a:lstStyle/>
        <a:p>
          <a:endParaRPr lang="en-US"/>
        </a:p>
      </dgm:t>
    </dgm:pt>
    <dgm:pt modelId="{5EFBA256-B5C0-45D6-926A-DA2D6A9379A7}">
      <dgm:prSet/>
      <dgm:spPr/>
      <dgm:t>
        <a:bodyPr/>
        <a:lstStyle/>
        <a:p>
          <a:r>
            <a:rPr lang="en-GB"/>
            <a:t>y = "Hello, World!“</a:t>
          </a:r>
          <a:endParaRPr lang="en-US"/>
        </a:p>
      </dgm:t>
    </dgm:pt>
    <dgm:pt modelId="{27C5DCF3-C282-4A6D-B714-CC32CFEAE067}" type="parTrans" cxnId="{15504EE9-4D8A-48D9-9269-D5E31C757537}">
      <dgm:prSet/>
      <dgm:spPr/>
      <dgm:t>
        <a:bodyPr/>
        <a:lstStyle/>
        <a:p>
          <a:endParaRPr lang="en-US"/>
        </a:p>
      </dgm:t>
    </dgm:pt>
    <dgm:pt modelId="{833B3BAE-66B3-4BE7-9FA9-7725F088BDEB}" type="sibTrans" cxnId="{15504EE9-4D8A-48D9-9269-D5E31C757537}">
      <dgm:prSet/>
      <dgm:spPr/>
      <dgm:t>
        <a:bodyPr/>
        <a:lstStyle/>
        <a:p>
          <a:endParaRPr lang="en-US"/>
        </a:p>
      </dgm:t>
    </dgm:pt>
    <dgm:pt modelId="{253AF187-8C2C-493F-84C0-DCEBEBD7D283}">
      <dgm:prSet/>
      <dgm:spPr/>
      <dgm:t>
        <a:bodyPr/>
        <a:lstStyle/>
        <a:p>
          <a:r>
            <a:rPr lang="en-GB"/>
            <a:t>How python knows the data type of x?</a:t>
          </a:r>
          <a:endParaRPr lang="en-US"/>
        </a:p>
      </dgm:t>
    </dgm:pt>
    <dgm:pt modelId="{FA6DE0C9-3C83-460D-AE93-70FD2C379517}" type="parTrans" cxnId="{252EAA8F-AFA0-4A20-9F86-0D0FEE4415D7}">
      <dgm:prSet/>
      <dgm:spPr/>
      <dgm:t>
        <a:bodyPr/>
        <a:lstStyle/>
        <a:p>
          <a:endParaRPr lang="en-US"/>
        </a:p>
      </dgm:t>
    </dgm:pt>
    <dgm:pt modelId="{199D09EA-B0D9-4E9B-A7FF-BC8842F02845}" type="sibTrans" cxnId="{252EAA8F-AFA0-4A20-9F86-0D0FEE4415D7}">
      <dgm:prSet/>
      <dgm:spPr/>
      <dgm:t>
        <a:bodyPr/>
        <a:lstStyle/>
        <a:p>
          <a:endParaRPr lang="en-US"/>
        </a:p>
      </dgm:t>
    </dgm:pt>
    <dgm:pt modelId="{F027B120-3CD7-40FA-B89B-43417113059A}">
      <dgm:prSet/>
      <dgm:spPr/>
      <dgm:t>
        <a:bodyPr/>
        <a:lstStyle/>
        <a:p>
          <a:r>
            <a:rPr lang="en-GB" dirty="0"/>
            <a:t>The interpreter knows that a is an integer because of the value 10 that's assigned to it. </a:t>
          </a:r>
          <a:endParaRPr lang="en-US" dirty="0"/>
        </a:p>
      </dgm:t>
    </dgm:pt>
    <dgm:pt modelId="{B1CF4EF9-3444-47A4-B1B8-4723B3611FA6}" type="parTrans" cxnId="{D02AD519-7399-4EC9-9CBB-4AE5057A5EF7}">
      <dgm:prSet/>
      <dgm:spPr/>
      <dgm:t>
        <a:bodyPr/>
        <a:lstStyle/>
        <a:p>
          <a:endParaRPr lang="en-US"/>
        </a:p>
      </dgm:t>
    </dgm:pt>
    <dgm:pt modelId="{2AD16C7C-0567-4F84-AB63-A6B21DBF32ED}" type="sibTrans" cxnId="{D02AD519-7399-4EC9-9CBB-4AE5057A5EF7}">
      <dgm:prSet/>
      <dgm:spPr/>
      <dgm:t>
        <a:bodyPr/>
        <a:lstStyle/>
        <a:p>
          <a:endParaRPr lang="en-US"/>
        </a:p>
      </dgm:t>
    </dgm:pt>
    <dgm:pt modelId="{E4B0FBBE-1227-4A1D-96E0-D87C25C827CE}" type="pres">
      <dgm:prSet presAssocID="{2A6E48F8-9E02-4EA0-8575-D67D4FCA9A80}" presName="root" presStyleCnt="0">
        <dgm:presLayoutVars>
          <dgm:dir/>
          <dgm:resizeHandles val="exact"/>
        </dgm:presLayoutVars>
      </dgm:prSet>
      <dgm:spPr/>
    </dgm:pt>
    <dgm:pt modelId="{C1BC9440-0285-47E9-BEC2-2843C2DD596A}" type="pres">
      <dgm:prSet presAssocID="{F95A0879-0890-432F-8D1C-F497AEF54318}" presName="compNode" presStyleCnt="0"/>
      <dgm:spPr/>
    </dgm:pt>
    <dgm:pt modelId="{0A308ED3-AF57-4B6C-B280-ABBE3431A0BE}" type="pres">
      <dgm:prSet presAssocID="{F95A0879-0890-432F-8D1C-F497AEF54318}" presName="bgRect" presStyleLbl="bgShp" presStyleIdx="0" presStyleCnt="3"/>
      <dgm:spPr/>
    </dgm:pt>
    <dgm:pt modelId="{54A2D07A-2E6E-4394-AAAF-19D93E936C2F}" type="pres">
      <dgm:prSet presAssocID="{F95A0879-0890-432F-8D1C-F497AEF543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74AFAE5-D8DC-40EF-A852-061C464EF835}" type="pres">
      <dgm:prSet presAssocID="{F95A0879-0890-432F-8D1C-F497AEF54318}" presName="spaceRect" presStyleCnt="0"/>
      <dgm:spPr/>
    </dgm:pt>
    <dgm:pt modelId="{278D869F-7C23-4DA7-A699-5A9516870987}" type="pres">
      <dgm:prSet presAssocID="{F95A0879-0890-432F-8D1C-F497AEF54318}" presName="parTx" presStyleLbl="revTx" presStyleIdx="0" presStyleCnt="4">
        <dgm:presLayoutVars>
          <dgm:chMax val="0"/>
          <dgm:chPref val="0"/>
        </dgm:presLayoutVars>
      </dgm:prSet>
      <dgm:spPr/>
    </dgm:pt>
    <dgm:pt modelId="{52D2D712-557A-4CB0-9F8D-909E43482B26}" type="pres">
      <dgm:prSet presAssocID="{F95A0879-0890-432F-8D1C-F497AEF54318}" presName="desTx" presStyleLbl="revTx" presStyleIdx="1" presStyleCnt="4">
        <dgm:presLayoutVars/>
      </dgm:prSet>
      <dgm:spPr/>
    </dgm:pt>
    <dgm:pt modelId="{D324A8EF-3C50-4150-8FBD-220F64B9B2D5}" type="pres">
      <dgm:prSet presAssocID="{DE7F9410-BFCC-4428-B67F-3BF42763511E}" presName="sibTrans" presStyleCnt="0"/>
      <dgm:spPr/>
    </dgm:pt>
    <dgm:pt modelId="{FC36EFAD-F9C4-49BB-BE89-DAE90138C5BB}" type="pres">
      <dgm:prSet presAssocID="{253AF187-8C2C-493F-84C0-DCEBEBD7D283}" presName="compNode" presStyleCnt="0"/>
      <dgm:spPr/>
    </dgm:pt>
    <dgm:pt modelId="{523C06D4-4C30-411C-AA39-F701F967EA83}" type="pres">
      <dgm:prSet presAssocID="{253AF187-8C2C-493F-84C0-DCEBEBD7D283}" presName="bgRect" presStyleLbl="bgShp" presStyleIdx="1" presStyleCnt="3"/>
      <dgm:spPr/>
    </dgm:pt>
    <dgm:pt modelId="{E70C4B3B-011C-4284-9649-1ECD7CAEFFA1}" type="pres">
      <dgm:prSet presAssocID="{253AF187-8C2C-493F-84C0-DCEBEBD7D2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658EFEA-54C3-402B-BBD9-41555045582D}" type="pres">
      <dgm:prSet presAssocID="{253AF187-8C2C-493F-84C0-DCEBEBD7D283}" presName="spaceRect" presStyleCnt="0"/>
      <dgm:spPr/>
    </dgm:pt>
    <dgm:pt modelId="{D872DA9C-6FC5-43C7-8159-E2AFB436D2A6}" type="pres">
      <dgm:prSet presAssocID="{253AF187-8C2C-493F-84C0-DCEBEBD7D283}" presName="parTx" presStyleLbl="revTx" presStyleIdx="2" presStyleCnt="4">
        <dgm:presLayoutVars>
          <dgm:chMax val="0"/>
          <dgm:chPref val="0"/>
        </dgm:presLayoutVars>
      </dgm:prSet>
      <dgm:spPr/>
    </dgm:pt>
    <dgm:pt modelId="{F15BFAAC-31B5-4CCB-935A-D35AA797426D}" type="pres">
      <dgm:prSet presAssocID="{199D09EA-B0D9-4E9B-A7FF-BC8842F02845}" presName="sibTrans" presStyleCnt="0"/>
      <dgm:spPr/>
    </dgm:pt>
    <dgm:pt modelId="{2D51CA7C-0127-4011-9B9E-6EECC48D7811}" type="pres">
      <dgm:prSet presAssocID="{F027B120-3CD7-40FA-B89B-43417113059A}" presName="compNode" presStyleCnt="0"/>
      <dgm:spPr/>
    </dgm:pt>
    <dgm:pt modelId="{EB8691BB-8210-49B8-BB51-49505AFBDFA3}" type="pres">
      <dgm:prSet presAssocID="{F027B120-3CD7-40FA-B89B-43417113059A}" presName="bgRect" presStyleLbl="bgShp" presStyleIdx="2" presStyleCnt="3"/>
      <dgm:spPr/>
    </dgm:pt>
    <dgm:pt modelId="{A5E174B5-86C1-49C4-9D3A-9C2D3303009A}" type="pres">
      <dgm:prSet presAssocID="{F027B120-3CD7-40FA-B89B-4341711305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C3A007A-E8BD-4F09-836A-953BACEE6604}" type="pres">
      <dgm:prSet presAssocID="{F027B120-3CD7-40FA-B89B-43417113059A}" presName="spaceRect" presStyleCnt="0"/>
      <dgm:spPr/>
    </dgm:pt>
    <dgm:pt modelId="{B6A858DE-56C6-4FB9-A274-C866E9E1DC42}" type="pres">
      <dgm:prSet presAssocID="{F027B120-3CD7-40FA-B89B-43417113059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2AD519-7399-4EC9-9CBB-4AE5057A5EF7}" srcId="{2A6E48F8-9E02-4EA0-8575-D67D4FCA9A80}" destId="{F027B120-3CD7-40FA-B89B-43417113059A}" srcOrd="2" destOrd="0" parTransId="{B1CF4EF9-3444-47A4-B1B8-4723B3611FA6}" sibTransId="{2AD16C7C-0567-4F84-AB63-A6B21DBF32ED}"/>
    <dgm:cxn modelId="{5F21141D-F7D8-4548-B9D4-BEFF035FF7D9}" srcId="{F95A0879-0890-432F-8D1C-F497AEF54318}" destId="{0CACB593-A4C9-4577-8335-2F4AA0E7A741}" srcOrd="0" destOrd="0" parTransId="{11F5DF6A-A1CD-489A-B272-BEEBFDDB5817}" sibTransId="{6060F99B-99E1-447E-84F5-318EF24F48FD}"/>
    <dgm:cxn modelId="{46D7FE23-7185-484C-886D-FDF2CB5E8D8E}" type="presOf" srcId="{2A6E48F8-9E02-4EA0-8575-D67D4FCA9A80}" destId="{E4B0FBBE-1227-4A1D-96E0-D87C25C827CE}" srcOrd="0" destOrd="0" presId="urn:microsoft.com/office/officeart/2018/2/layout/IconVerticalSolidList"/>
    <dgm:cxn modelId="{23771E3D-28C9-4AB5-9D64-73975D14B121}" type="presOf" srcId="{F027B120-3CD7-40FA-B89B-43417113059A}" destId="{B6A858DE-56C6-4FB9-A274-C866E9E1DC42}" srcOrd="0" destOrd="0" presId="urn:microsoft.com/office/officeart/2018/2/layout/IconVerticalSolidList"/>
    <dgm:cxn modelId="{907C713F-299F-45F5-9E30-6B877362D046}" type="presOf" srcId="{253AF187-8C2C-493F-84C0-DCEBEBD7D283}" destId="{D872DA9C-6FC5-43C7-8159-E2AFB436D2A6}" srcOrd="0" destOrd="0" presId="urn:microsoft.com/office/officeart/2018/2/layout/IconVerticalSolidList"/>
    <dgm:cxn modelId="{9067F76A-5C4A-4F90-A721-AC2AF7BF7D9B}" type="presOf" srcId="{F95A0879-0890-432F-8D1C-F497AEF54318}" destId="{278D869F-7C23-4DA7-A699-5A9516870987}" srcOrd="0" destOrd="0" presId="urn:microsoft.com/office/officeart/2018/2/layout/IconVerticalSolidList"/>
    <dgm:cxn modelId="{1D15116B-671C-45EC-8F15-70FD99DB8805}" type="presOf" srcId="{5EFBA256-B5C0-45D6-926A-DA2D6A9379A7}" destId="{52D2D712-557A-4CB0-9F8D-909E43482B26}" srcOrd="0" destOrd="1" presId="urn:microsoft.com/office/officeart/2018/2/layout/IconVerticalSolidList"/>
    <dgm:cxn modelId="{4E654174-3F61-4D45-92D7-3707F9AFF154}" type="presOf" srcId="{0CACB593-A4C9-4577-8335-2F4AA0E7A741}" destId="{52D2D712-557A-4CB0-9F8D-909E43482B26}" srcOrd="0" destOrd="0" presId="urn:microsoft.com/office/officeart/2018/2/layout/IconVerticalSolidList"/>
    <dgm:cxn modelId="{252EAA8F-AFA0-4A20-9F86-0D0FEE4415D7}" srcId="{2A6E48F8-9E02-4EA0-8575-D67D4FCA9A80}" destId="{253AF187-8C2C-493F-84C0-DCEBEBD7D283}" srcOrd="1" destOrd="0" parTransId="{FA6DE0C9-3C83-460D-AE93-70FD2C379517}" sibTransId="{199D09EA-B0D9-4E9B-A7FF-BC8842F02845}"/>
    <dgm:cxn modelId="{2F8CDD9A-59F1-4C5D-9D0A-920956CF54CE}" srcId="{2A6E48F8-9E02-4EA0-8575-D67D4FCA9A80}" destId="{F95A0879-0890-432F-8D1C-F497AEF54318}" srcOrd="0" destOrd="0" parTransId="{1CB43662-4F8A-4B5A-BF0F-041D44C47E7C}" sibTransId="{DE7F9410-BFCC-4428-B67F-3BF42763511E}"/>
    <dgm:cxn modelId="{15504EE9-4D8A-48D9-9269-D5E31C757537}" srcId="{F95A0879-0890-432F-8D1C-F497AEF54318}" destId="{5EFBA256-B5C0-45D6-926A-DA2D6A9379A7}" srcOrd="1" destOrd="0" parTransId="{27C5DCF3-C282-4A6D-B714-CC32CFEAE067}" sibTransId="{833B3BAE-66B3-4BE7-9FA9-7725F088BDEB}"/>
    <dgm:cxn modelId="{3CB67279-6CAA-49F4-B9C8-81C428C5A8D2}" type="presParOf" srcId="{E4B0FBBE-1227-4A1D-96E0-D87C25C827CE}" destId="{C1BC9440-0285-47E9-BEC2-2843C2DD596A}" srcOrd="0" destOrd="0" presId="urn:microsoft.com/office/officeart/2018/2/layout/IconVerticalSolidList"/>
    <dgm:cxn modelId="{FD8EDFCF-1193-42BD-8EA0-9457FC728DBE}" type="presParOf" srcId="{C1BC9440-0285-47E9-BEC2-2843C2DD596A}" destId="{0A308ED3-AF57-4B6C-B280-ABBE3431A0BE}" srcOrd="0" destOrd="0" presId="urn:microsoft.com/office/officeart/2018/2/layout/IconVerticalSolidList"/>
    <dgm:cxn modelId="{A95F6E01-1EBB-47A4-9A12-D8A848643E80}" type="presParOf" srcId="{C1BC9440-0285-47E9-BEC2-2843C2DD596A}" destId="{54A2D07A-2E6E-4394-AAAF-19D93E936C2F}" srcOrd="1" destOrd="0" presId="urn:microsoft.com/office/officeart/2018/2/layout/IconVerticalSolidList"/>
    <dgm:cxn modelId="{6AAC53AE-EC92-4103-BD4B-F5113C617371}" type="presParOf" srcId="{C1BC9440-0285-47E9-BEC2-2843C2DD596A}" destId="{E74AFAE5-D8DC-40EF-A852-061C464EF835}" srcOrd="2" destOrd="0" presId="urn:microsoft.com/office/officeart/2018/2/layout/IconVerticalSolidList"/>
    <dgm:cxn modelId="{CC951F32-D0AB-45E9-AA27-E25D87CDE58F}" type="presParOf" srcId="{C1BC9440-0285-47E9-BEC2-2843C2DD596A}" destId="{278D869F-7C23-4DA7-A699-5A9516870987}" srcOrd="3" destOrd="0" presId="urn:microsoft.com/office/officeart/2018/2/layout/IconVerticalSolidList"/>
    <dgm:cxn modelId="{E588CCC7-FFA1-4BE2-81FB-1157F046EDD1}" type="presParOf" srcId="{C1BC9440-0285-47E9-BEC2-2843C2DD596A}" destId="{52D2D712-557A-4CB0-9F8D-909E43482B26}" srcOrd="4" destOrd="0" presId="urn:microsoft.com/office/officeart/2018/2/layout/IconVerticalSolidList"/>
    <dgm:cxn modelId="{542A146E-4C85-470B-9652-5CA449454DFD}" type="presParOf" srcId="{E4B0FBBE-1227-4A1D-96E0-D87C25C827CE}" destId="{D324A8EF-3C50-4150-8FBD-220F64B9B2D5}" srcOrd="1" destOrd="0" presId="urn:microsoft.com/office/officeart/2018/2/layout/IconVerticalSolidList"/>
    <dgm:cxn modelId="{56E7F6A7-9DA8-486C-BAD6-3D78C90FC7D0}" type="presParOf" srcId="{E4B0FBBE-1227-4A1D-96E0-D87C25C827CE}" destId="{FC36EFAD-F9C4-49BB-BE89-DAE90138C5BB}" srcOrd="2" destOrd="0" presId="urn:microsoft.com/office/officeart/2018/2/layout/IconVerticalSolidList"/>
    <dgm:cxn modelId="{663273E3-5F58-4C28-93EF-B339F3C68D8A}" type="presParOf" srcId="{FC36EFAD-F9C4-49BB-BE89-DAE90138C5BB}" destId="{523C06D4-4C30-411C-AA39-F701F967EA83}" srcOrd="0" destOrd="0" presId="urn:microsoft.com/office/officeart/2018/2/layout/IconVerticalSolidList"/>
    <dgm:cxn modelId="{90793857-A5A1-45AE-98C0-BF01E98DFE8D}" type="presParOf" srcId="{FC36EFAD-F9C4-49BB-BE89-DAE90138C5BB}" destId="{E70C4B3B-011C-4284-9649-1ECD7CAEFFA1}" srcOrd="1" destOrd="0" presId="urn:microsoft.com/office/officeart/2018/2/layout/IconVerticalSolidList"/>
    <dgm:cxn modelId="{3D2B115A-D91D-45A0-951D-EB66A15160DE}" type="presParOf" srcId="{FC36EFAD-F9C4-49BB-BE89-DAE90138C5BB}" destId="{C658EFEA-54C3-402B-BBD9-41555045582D}" srcOrd="2" destOrd="0" presId="urn:microsoft.com/office/officeart/2018/2/layout/IconVerticalSolidList"/>
    <dgm:cxn modelId="{34F4162B-6B50-4262-8B47-944B59B61161}" type="presParOf" srcId="{FC36EFAD-F9C4-49BB-BE89-DAE90138C5BB}" destId="{D872DA9C-6FC5-43C7-8159-E2AFB436D2A6}" srcOrd="3" destOrd="0" presId="urn:microsoft.com/office/officeart/2018/2/layout/IconVerticalSolidList"/>
    <dgm:cxn modelId="{FA881424-5CC7-4946-8258-F50C07D12C94}" type="presParOf" srcId="{E4B0FBBE-1227-4A1D-96E0-D87C25C827CE}" destId="{F15BFAAC-31B5-4CCB-935A-D35AA797426D}" srcOrd="3" destOrd="0" presId="urn:microsoft.com/office/officeart/2018/2/layout/IconVerticalSolidList"/>
    <dgm:cxn modelId="{827CD7A0-1052-4FD7-ACC2-986931843E28}" type="presParOf" srcId="{E4B0FBBE-1227-4A1D-96E0-D87C25C827CE}" destId="{2D51CA7C-0127-4011-9B9E-6EECC48D7811}" srcOrd="4" destOrd="0" presId="urn:microsoft.com/office/officeart/2018/2/layout/IconVerticalSolidList"/>
    <dgm:cxn modelId="{2DE5FEF0-C452-4FE8-BD6B-64323708E401}" type="presParOf" srcId="{2D51CA7C-0127-4011-9B9E-6EECC48D7811}" destId="{EB8691BB-8210-49B8-BB51-49505AFBDFA3}" srcOrd="0" destOrd="0" presId="urn:microsoft.com/office/officeart/2018/2/layout/IconVerticalSolidList"/>
    <dgm:cxn modelId="{2EADFA51-24FE-4C85-B035-328127347A65}" type="presParOf" srcId="{2D51CA7C-0127-4011-9B9E-6EECC48D7811}" destId="{A5E174B5-86C1-49C4-9D3A-9C2D3303009A}" srcOrd="1" destOrd="0" presId="urn:microsoft.com/office/officeart/2018/2/layout/IconVerticalSolidList"/>
    <dgm:cxn modelId="{C245F244-EEBF-4191-8F2A-5EBF0A462F6B}" type="presParOf" srcId="{2D51CA7C-0127-4011-9B9E-6EECC48D7811}" destId="{8C3A007A-E8BD-4F09-836A-953BACEE6604}" srcOrd="2" destOrd="0" presId="urn:microsoft.com/office/officeart/2018/2/layout/IconVerticalSolidList"/>
    <dgm:cxn modelId="{D367C170-D1F0-45B1-850D-00E676231684}" type="presParOf" srcId="{2D51CA7C-0127-4011-9B9E-6EECC48D7811}" destId="{B6A858DE-56C6-4FB9-A274-C866E9E1DC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08ED3-AF57-4B6C-B280-ABBE3431A0BE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2D07A-2E6E-4394-AAAF-19D93E936C2F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D869F-7C23-4DA7-A699-5A9516870987}">
      <dsp:nvSpPr>
        <dsp:cNvPr id="0" name=""/>
        <dsp:cNvSpPr/>
      </dsp:nvSpPr>
      <dsp:spPr>
        <a:xfrm>
          <a:off x="1761361" y="651"/>
          <a:ext cx="2993063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i="0" kern="1200" dirty="0"/>
            <a:t>Variables</a:t>
          </a:r>
          <a:r>
            <a:rPr lang="en-GB" sz="2500" b="0" i="0" kern="1200" dirty="0"/>
            <a:t>: Python uses dynamic typing.</a:t>
          </a:r>
          <a:endParaRPr lang="en-US" sz="2500" kern="1200" dirty="0"/>
        </a:p>
      </dsp:txBody>
      <dsp:txXfrm>
        <a:off x="1761361" y="651"/>
        <a:ext cx="2993063" cy="1524988"/>
      </dsp:txXfrm>
    </dsp:sp>
    <dsp:sp modelId="{52D2D712-557A-4CB0-9F8D-909E43482B26}">
      <dsp:nvSpPr>
        <dsp:cNvPr id="0" name=""/>
        <dsp:cNvSpPr/>
      </dsp:nvSpPr>
      <dsp:spPr>
        <a:xfrm>
          <a:off x="4754425" y="651"/>
          <a:ext cx="1896827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x = 5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y = "Hello, World!“</a:t>
          </a:r>
          <a:endParaRPr lang="en-US" sz="1800" kern="1200"/>
        </a:p>
      </dsp:txBody>
      <dsp:txXfrm>
        <a:off x="4754425" y="651"/>
        <a:ext cx="1896827" cy="1524988"/>
      </dsp:txXfrm>
    </dsp:sp>
    <dsp:sp modelId="{523C06D4-4C30-411C-AA39-F701F967EA83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C4B3B-011C-4284-9649-1ECD7CAEFFA1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2DA9C-6FC5-43C7-8159-E2AFB436D2A6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How python knows the data type of x?</a:t>
          </a:r>
          <a:endParaRPr lang="en-US" sz="2500" kern="1200"/>
        </a:p>
      </dsp:txBody>
      <dsp:txXfrm>
        <a:off x="1761361" y="1906887"/>
        <a:ext cx="4889891" cy="1524988"/>
      </dsp:txXfrm>
    </dsp:sp>
    <dsp:sp modelId="{EB8691BB-8210-49B8-BB51-49505AFBDFA3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174B5-86C1-49C4-9D3A-9C2D3303009A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858DE-56C6-4FB9-A274-C866E9E1DC42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The interpreter knows that a is an integer because of the value 10 that's assigned to it. </a:t>
          </a:r>
          <a:endParaRPr lang="en-US" sz="2500" kern="1200" dirty="0"/>
        </a:p>
      </dsp:txBody>
      <dsp:txXfrm>
        <a:off x="1761361" y="3813123"/>
        <a:ext cx="4889891" cy="1524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/>
          <a:lstStyle>
            <a:lvl1pPr algn="l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2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2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1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9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9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60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7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1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68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5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spc="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spc="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67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 spc="1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 spc="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 spc="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 spc="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spc="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spc="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F187B58-3857-4454-9C70-EFB475976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Yellow python">
            <a:extLst>
              <a:ext uri="{FF2B5EF4-FFF2-40B4-BE49-F238E27FC236}">
                <a16:creationId xmlns:a16="http://schemas.microsoft.com/office/drawing/2014/main" id="{4BE6A8BB-945D-786B-273C-751814549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5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4C5418A4-3935-49EA-B51C-5DDCBFAA3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8056" y="2813365"/>
            <a:ext cx="7450687" cy="3406460"/>
          </a:xfrm>
          <a:custGeom>
            <a:avLst/>
            <a:gdLst>
              <a:gd name="connsiteX0" fmla="*/ 6457914 w 7450687"/>
              <a:gd name="connsiteY0" fmla="*/ 0 h 3406460"/>
              <a:gd name="connsiteX1" fmla="*/ 6844288 w 7450687"/>
              <a:gd name="connsiteY1" fmla="*/ 233492 h 3406460"/>
              <a:gd name="connsiteX2" fmla="*/ 7386323 w 7450687"/>
              <a:gd name="connsiteY2" fmla="*/ 717155 h 3406460"/>
              <a:gd name="connsiteX3" fmla="*/ 7430798 w 7450687"/>
              <a:gd name="connsiteY3" fmla="*/ 1809564 h 3406460"/>
              <a:gd name="connsiteX4" fmla="*/ 7013848 w 7450687"/>
              <a:gd name="connsiteY4" fmla="*/ 3104890 h 3406460"/>
              <a:gd name="connsiteX5" fmla="*/ 6569101 w 7450687"/>
              <a:gd name="connsiteY5" fmla="*/ 3402314 h 3406460"/>
              <a:gd name="connsiteX6" fmla="*/ 3683807 w 7450687"/>
              <a:gd name="connsiteY6" fmla="*/ 3341162 h 3406460"/>
              <a:gd name="connsiteX7" fmla="*/ 1704683 w 7450687"/>
              <a:gd name="connsiteY7" fmla="*/ 2860279 h 3406460"/>
              <a:gd name="connsiteX8" fmla="*/ 2010446 w 7450687"/>
              <a:gd name="connsiteY8" fmla="*/ 2801907 h 3406460"/>
              <a:gd name="connsiteX9" fmla="*/ 1273834 w 7450687"/>
              <a:gd name="connsiteY9" fmla="*/ 2674041 h 3406460"/>
              <a:gd name="connsiteX10" fmla="*/ 1315530 w 7450687"/>
              <a:gd name="connsiteY10" fmla="*/ 2657363 h 3406460"/>
              <a:gd name="connsiteX11" fmla="*/ 1234919 w 7450687"/>
              <a:gd name="connsiteY11" fmla="*/ 2590651 h 3406460"/>
              <a:gd name="connsiteX12" fmla="*/ 904138 w 7450687"/>
              <a:gd name="connsiteY12" fmla="*/ 2485024 h 3406460"/>
              <a:gd name="connsiteX13" fmla="*/ 1315530 w 7450687"/>
              <a:gd name="connsiteY13" fmla="*/ 2307126 h 3406460"/>
              <a:gd name="connsiteX14" fmla="*/ 851326 w 7450687"/>
              <a:gd name="connsiteY14" fmla="*/ 2065294 h 3406460"/>
              <a:gd name="connsiteX15" fmla="*/ 615053 w 7450687"/>
              <a:gd name="connsiteY15" fmla="*/ 2006921 h 3406460"/>
              <a:gd name="connsiteX16" fmla="*/ 1393361 w 7450687"/>
              <a:gd name="connsiteY16" fmla="*/ 1703937 h 3406460"/>
              <a:gd name="connsiteX17" fmla="*/ 131391 w 7450687"/>
              <a:gd name="connsiteY17" fmla="*/ 1553835 h 3406460"/>
              <a:gd name="connsiteX18" fmla="*/ 234239 w 7450687"/>
              <a:gd name="connsiteY18" fmla="*/ 1492682 h 3406460"/>
              <a:gd name="connsiteX19" fmla="*/ 1018105 w 7450687"/>
              <a:gd name="connsiteY19" fmla="*/ 1509360 h 3406460"/>
              <a:gd name="connsiteX20" fmla="*/ 1148750 w 7450687"/>
              <a:gd name="connsiteY20" fmla="*/ 1462106 h 3406460"/>
              <a:gd name="connsiteX21" fmla="*/ 1018105 w 7450687"/>
              <a:gd name="connsiteY21" fmla="*/ 1387055 h 3406460"/>
              <a:gd name="connsiteX22" fmla="*/ 509426 w 7450687"/>
              <a:gd name="connsiteY22" fmla="*/ 1331461 h 3406460"/>
              <a:gd name="connsiteX23" fmla="*/ 376002 w 7450687"/>
              <a:gd name="connsiteY23" fmla="*/ 1206376 h 3406460"/>
              <a:gd name="connsiteX24" fmla="*/ 150849 w 7450687"/>
              <a:gd name="connsiteY24" fmla="*/ 1061833 h 3406460"/>
              <a:gd name="connsiteX25" fmla="*/ 306510 w 7450687"/>
              <a:gd name="connsiteY25" fmla="*/ 942308 h 3406460"/>
              <a:gd name="connsiteX26" fmla="*/ 53560 w 7450687"/>
              <a:gd name="connsiteY26" fmla="*/ 764409 h 3406460"/>
              <a:gd name="connsiteX27" fmla="*/ 125832 w 7450687"/>
              <a:gd name="connsiteY27" fmla="*/ 530917 h 3406460"/>
              <a:gd name="connsiteX28" fmla="*/ 551121 w 7450687"/>
              <a:gd name="connsiteY28" fmla="*/ 475324 h 3406460"/>
              <a:gd name="connsiteX29" fmla="*/ 1120952 w 7450687"/>
              <a:gd name="connsiteY29" fmla="*/ 394713 h 3406460"/>
              <a:gd name="connsiteX30" fmla="*/ 1693564 w 7450687"/>
              <a:gd name="connsiteY30" fmla="*/ 325221 h 3406460"/>
              <a:gd name="connsiteX31" fmla="*/ 2266175 w 7450687"/>
              <a:gd name="connsiteY31" fmla="*/ 325221 h 3406460"/>
              <a:gd name="connsiteX32" fmla="*/ 2430177 w 7450687"/>
              <a:gd name="connsiteY32" fmla="*/ 330781 h 3406460"/>
              <a:gd name="connsiteX33" fmla="*/ 2432956 w 7450687"/>
              <a:gd name="connsiteY33" fmla="*/ 330781 h 3406460"/>
              <a:gd name="connsiteX34" fmla="*/ 3144551 w 7450687"/>
              <a:gd name="connsiteY34" fmla="*/ 355798 h 3406460"/>
              <a:gd name="connsiteX35" fmla="*/ 3408619 w 7450687"/>
              <a:gd name="connsiteY35" fmla="*/ 358577 h 3406460"/>
              <a:gd name="connsiteX36" fmla="*/ 3981231 w 7450687"/>
              <a:gd name="connsiteY36" fmla="*/ 361357 h 3406460"/>
              <a:gd name="connsiteX37" fmla="*/ 4551063 w 7450687"/>
              <a:gd name="connsiteY37" fmla="*/ 350238 h 3406460"/>
              <a:gd name="connsiteX38" fmla="*/ 5129233 w 7450687"/>
              <a:gd name="connsiteY38" fmla="*/ 316882 h 3406460"/>
              <a:gd name="connsiteX39" fmla="*/ 5699065 w 7450687"/>
              <a:gd name="connsiteY39" fmla="*/ 272407 h 3406460"/>
              <a:gd name="connsiteX40" fmla="*/ 6063202 w 7450687"/>
              <a:gd name="connsiteY40" fmla="*/ 172339 h 3406460"/>
              <a:gd name="connsiteX41" fmla="*/ 6457914 w 7450687"/>
              <a:gd name="connsiteY41" fmla="*/ 0 h 3406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50687" h="3406460">
                <a:moveTo>
                  <a:pt x="6457914" y="0"/>
                </a:moveTo>
                <a:cubicBezTo>
                  <a:pt x="6560763" y="125085"/>
                  <a:pt x="6713644" y="161221"/>
                  <a:pt x="6844288" y="233492"/>
                </a:cubicBezTo>
                <a:cubicBezTo>
                  <a:pt x="6972153" y="289086"/>
                  <a:pt x="7336289" y="611527"/>
                  <a:pt x="7386323" y="717155"/>
                </a:cubicBezTo>
                <a:cubicBezTo>
                  <a:pt x="7475273" y="900613"/>
                  <a:pt x="7453035" y="1573293"/>
                  <a:pt x="7430798" y="1809564"/>
                </a:cubicBezTo>
                <a:cubicBezTo>
                  <a:pt x="7347408" y="2398855"/>
                  <a:pt x="7041645" y="3077093"/>
                  <a:pt x="7013848" y="3104890"/>
                </a:cubicBezTo>
                <a:cubicBezTo>
                  <a:pt x="6924899" y="3085432"/>
                  <a:pt x="6721983" y="3391196"/>
                  <a:pt x="6569101" y="3402314"/>
                </a:cubicBezTo>
                <a:cubicBezTo>
                  <a:pt x="6407881" y="3413434"/>
                  <a:pt x="4039604" y="3405095"/>
                  <a:pt x="3683807" y="3341162"/>
                </a:cubicBezTo>
                <a:cubicBezTo>
                  <a:pt x="1749158" y="2988144"/>
                  <a:pt x="1704683" y="2860279"/>
                  <a:pt x="1704683" y="2860279"/>
                </a:cubicBezTo>
                <a:cubicBezTo>
                  <a:pt x="1704683" y="2860279"/>
                  <a:pt x="1910378" y="2835262"/>
                  <a:pt x="2010446" y="2801907"/>
                </a:cubicBezTo>
                <a:cubicBezTo>
                  <a:pt x="1865904" y="2799126"/>
                  <a:pt x="1296072" y="2693500"/>
                  <a:pt x="1273834" y="2674041"/>
                </a:cubicBezTo>
                <a:cubicBezTo>
                  <a:pt x="1284954" y="2668482"/>
                  <a:pt x="1301632" y="2662923"/>
                  <a:pt x="1315530" y="2657363"/>
                </a:cubicBezTo>
                <a:cubicBezTo>
                  <a:pt x="1284954" y="2640686"/>
                  <a:pt x="1259936" y="2621228"/>
                  <a:pt x="1234919" y="2590651"/>
                </a:cubicBezTo>
                <a:cubicBezTo>
                  <a:pt x="1154309" y="2487804"/>
                  <a:pt x="1018105" y="2523940"/>
                  <a:pt x="904138" y="2485024"/>
                </a:cubicBezTo>
                <a:cubicBezTo>
                  <a:pt x="976410" y="2268210"/>
                  <a:pt x="1168208" y="2348820"/>
                  <a:pt x="1315530" y="2307126"/>
                </a:cubicBezTo>
                <a:cubicBezTo>
                  <a:pt x="929156" y="2179260"/>
                  <a:pt x="1004207" y="2112548"/>
                  <a:pt x="851326" y="2065294"/>
                </a:cubicBezTo>
                <a:cubicBezTo>
                  <a:pt x="659528" y="2006921"/>
                  <a:pt x="615053" y="2006921"/>
                  <a:pt x="615053" y="2006921"/>
                </a:cubicBezTo>
                <a:cubicBezTo>
                  <a:pt x="840206" y="1829023"/>
                  <a:pt x="1109834" y="2020820"/>
                  <a:pt x="1393361" y="1703937"/>
                </a:cubicBezTo>
                <a:cubicBezTo>
                  <a:pt x="1120952" y="1659463"/>
                  <a:pt x="306510" y="1637225"/>
                  <a:pt x="131391" y="1553835"/>
                </a:cubicBezTo>
                <a:cubicBezTo>
                  <a:pt x="198103" y="1584411"/>
                  <a:pt x="203663" y="1492682"/>
                  <a:pt x="234239" y="1492682"/>
                </a:cubicBezTo>
                <a:cubicBezTo>
                  <a:pt x="492748" y="1489903"/>
                  <a:pt x="756816" y="1542717"/>
                  <a:pt x="1018105" y="1509360"/>
                </a:cubicBezTo>
                <a:cubicBezTo>
                  <a:pt x="1065359" y="1506581"/>
                  <a:pt x="1140411" y="1531597"/>
                  <a:pt x="1148750" y="1462106"/>
                </a:cubicBezTo>
                <a:cubicBezTo>
                  <a:pt x="1157088" y="1375936"/>
                  <a:pt x="1059800" y="1395394"/>
                  <a:pt x="1018105" y="1387055"/>
                </a:cubicBezTo>
                <a:cubicBezTo>
                  <a:pt x="848545" y="1359258"/>
                  <a:pt x="681766" y="1348140"/>
                  <a:pt x="509426" y="1331461"/>
                </a:cubicBezTo>
                <a:cubicBezTo>
                  <a:pt x="437155" y="1323122"/>
                  <a:pt x="348206" y="1339800"/>
                  <a:pt x="376002" y="1206376"/>
                </a:cubicBezTo>
                <a:cubicBezTo>
                  <a:pt x="353764" y="1078512"/>
                  <a:pt x="220341" y="1122986"/>
                  <a:pt x="150849" y="1061833"/>
                </a:cubicBezTo>
                <a:cubicBezTo>
                  <a:pt x="184205" y="989562"/>
                  <a:pt x="278714" y="1039597"/>
                  <a:pt x="306510" y="942308"/>
                </a:cubicBezTo>
                <a:cubicBezTo>
                  <a:pt x="173086" y="972884"/>
                  <a:pt x="186985" y="761630"/>
                  <a:pt x="53560" y="764409"/>
                </a:cubicBezTo>
                <a:cubicBezTo>
                  <a:pt x="-57626" y="639324"/>
                  <a:pt x="22984" y="578171"/>
                  <a:pt x="125832" y="530917"/>
                </a:cubicBezTo>
                <a:cubicBezTo>
                  <a:pt x="259256" y="472544"/>
                  <a:pt x="406578" y="486442"/>
                  <a:pt x="551121" y="475324"/>
                </a:cubicBezTo>
                <a:cubicBezTo>
                  <a:pt x="742919" y="450306"/>
                  <a:pt x="926376" y="391934"/>
                  <a:pt x="1120952" y="394713"/>
                </a:cubicBezTo>
                <a:cubicBezTo>
                  <a:pt x="1304411" y="336340"/>
                  <a:pt x="1507326" y="400272"/>
                  <a:pt x="1693564" y="325221"/>
                </a:cubicBezTo>
                <a:cubicBezTo>
                  <a:pt x="1882582" y="325221"/>
                  <a:pt x="2074379" y="325221"/>
                  <a:pt x="2266175" y="325221"/>
                </a:cubicBezTo>
                <a:cubicBezTo>
                  <a:pt x="2321770" y="328001"/>
                  <a:pt x="2374582" y="328001"/>
                  <a:pt x="2430177" y="330781"/>
                </a:cubicBezTo>
                <a:cubicBezTo>
                  <a:pt x="2430177" y="330781"/>
                  <a:pt x="2432956" y="330781"/>
                  <a:pt x="2432956" y="330781"/>
                </a:cubicBezTo>
                <a:cubicBezTo>
                  <a:pt x="2672008" y="339120"/>
                  <a:pt x="2908279" y="344679"/>
                  <a:pt x="3144551" y="355798"/>
                </a:cubicBezTo>
                <a:cubicBezTo>
                  <a:pt x="3233500" y="355798"/>
                  <a:pt x="3319670" y="358577"/>
                  <a:pt x="3408619" y="358577"/>
                </a:cubicBezTo>
                <a:cubicBezTo>
                  <a:pt x="3597637" y="372475"/>
                  <a:pt x="3789434" y="380814"/>
                  <a:pt x="3981231" y="361357"/>
                </a:cubicBezTo>
                <a:cubicBezTo>
                  <a:pt x="4173028" y="378035"/>
                  <a:pt x="4359266" y="366917"/>
                  <a:pt x="4551063" y="350238"/>
                </a:cubicBezTo>
                <a:cubicBezTo>
                  <a:pt x="4745639" y="369696"/>
                  <a:pt x="4937437" y="341899"/>
                  <a:pt x="5129233" y="316882"/>
                </a:cubicBezTo>
                <a:cubicBezTo>
                  <a:pt x="5321031" y="328001"/>
                  <a:pt x="5512828" y="328001"/>
                  <a:pt x="5699065" y="272407"/>
                </a:cubicBezTo>
                <a:cubicBezTo>
                  <a:pt x="5840829" y="333560"/>
                  <a:pt x="5910321" y="133424"/>
                  <a:pt x="6063202" y="172339"/>
                </a:cubicBezTo>
                <a:cubicBezTo>
                  <a:pt x="6216084" y="214035"/>
                  <a:pt x="6324491" y="55593"/>
                  <a:pt x="6457914" y="0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47CBB-6363-5C74-310E-3218975E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8986" y="3547277"/>
            <a:ext cx="4452181" cy="1341624"/>
          </a:xfrm>
        </p:spPr>
        <p:txBody>
          <a:bodyPr anchor="b">
            <a:normAutofit/>
          </a:bodyPr>
          <a:lstStyle/>
          <a:p>
            <a:r>
              <a:rPr lang="en-GB" sz="4000"/>
              <a:t>Getting Started with Python</a:t>
            </a:r>
            <a:endParaRPr lang="en-PK" sz="4000"/>
          </a:p>
        </p:txBody>
      </p:sp>
    </p:spTree>
    <p:extLst>
      <p:ext uri="{BB962C8B-B14F-4D97-AF65-F5344CB8AC3E}">
        <p14:creationId xmlns:p14="http://schemas.microsoft.com/office/powerpoint/2010/main" val="158057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22D692-5A47-4B84-7EA0-CAD06B91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  <a:latin typeface="Söhne"/>
              </a:rPr>
              <a:t>What is Python?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B0215-4D99-C775-6C49-510016667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GB" sz="2000" b="0" i="0" dirty="0">
                <a:effectLst/>
                <a:latin typeface="Söhne"/>
              </a:rPr>
              <a:t>Python is a high-level, interpreted programming language known for its simplicity, readability, and versatility. </a:t>
            </a:r>
            <a:endParaRPr lang="en-PK" sz="2000" dirty="0"/>
          </a:p>
        </p:txBody>
      </p:sp>
      <p:pic>
        <p:nvPicPr>
          <p:cNvPr id="5" name="Picture 4" descr="Yellow python">
            <a:extLst>
              <a:ext uri="{FF2B5EF4-FFF2-40B4-BE49-F238E27FC236}">
                <a16:creationId xmlns:a16="http://schemas.microsoft.com/office/drawing/2014/main" id="{EE7C58E9-4786-2D90-B39A-7A97E91C8E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97" r="25631" b="-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032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B869-D2E5-F55B-B921-99085109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effectLst/>
                <a:latin typeface="Söhne"/>
              </a:rPr>
              <a:t>Why is it considered powerful compared to other languages?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673D-688D-B751-0266-9D605C34F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Readability: </a:t>
            </a:r>
            <a:r>
              <a:rPr lang="en-GB" dirty="0"/>
              <a:t>Python's syntax is designed to be clear and readable, making it easier for developers to write and maintain code.</a:t>
            </a:r>
          </a:p>
          <a:p>
            <a:r>
              <a:rPr lang="en-GB" b="1" dirty="0"/>
              <a:t>Platform Independence: </a:t>
            </a:r>
            <a:r>
              <a:rPr lang="en-GB" dirty="0"/>
              <a:t>Python is cross-platform, which means Python applications can run on various operating systems.</a:t>
            </a:r>
          </a:p>
          <a:p>
            <a:r>
              <a:rPr lang="en-GB" b="1" dirty="0"/>
              <a:t>Can do: </a:t>
            </a:r>
            <a:r>
              <a:rPr lang="en-GB" dirty="0"/>
              <a:t>Python can be used for web development, data analysis, artificial intelligence, machine learning, automation, game development, and more.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5620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86CBBA-65C3-84E2-BC28-DB09E49C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  <a:latin typeface="Söhne"/>
              </a:rPr>
              <a:t>Where is it used?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1093-3F8D-FECD-7A90-24223C8B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GB" sz="2000" b="1" i="0" dirty="0">
                <a:effectLst/>
                <a:latin typeface="Söhne"/>
              </a:rPr>
              <a:t>Web Development</a:t>
            </a:r>
            <a:r>
              <a:rPr lang="en-GB" sz="2000" b="0" i="0" dirty="0">
                <a:effectLst/>
                <a:latin typeface="Söhne"/>
              </a:rPr>
              <a:t>: Frameworks like Django and Flask.</a:t>
            </a:r>
          </a:p>
          <a:p>
            <a:r>
              <a:rPr lang="en-GB" sz="2000" b="1" i="0" dirty="0">
                <a:effectLst/>
                <a:latin typeface="Söhne"/>
              </a:rPr>
              <a:t>Data Analysis &amp; Visualization</a:t>
            </a:r>
            <a:r>
              <a:rPr lang="en-GB" sz="2000" b="0" i="0" dirty="0">
                <a:effectLst/>
                <a:latin typeface="Söhne"/>
              </a:rPr>
              <a:t>:</a:t>
            </a:r>
            <a:endParaRPr lang="en-GB" sz="2000" dirty="0">
              <a:latin typeface="Söhne"/>
            </a:endParaRPr>
          </a:p>
          <a:p>
            <a:r>
              <a:rPr lang="en-GB" sz="2000" b="1" i="0" dirty="0">
                <a:effectLst/>
                <a:latin typeface="Söhne"/>
              </a:rPr>
              <a:t>Machine Learning/AI</a:t>
            </a:r>
            <a:r>
              <a:rPr lang="en-GB" sz="2000" b="0" i="0" dirty="0">
                <a:effectLst/>
                <a:latin typeface="Söhne"/>
              </a:rPr>
              <a:t>:</a:t>
            </a:r>
          </a:p>
          <a:p>
            <a:r>
              <a:rPr lang="en-GB" sz="2000" dirty="0">
                <a:latin typeface="Söhne"/>
              </a:rPr>
              <a:t>And more</a:t>
            </a:r>
            <a:endParaRPr lang="en-PK" sz="2000" dirty="0"/>
          </a:p>
        </p:txBody>
      </p:sp>
      <p:pic>
        <p:nvPicPr>
          <p:cNvPr id="12" name="Picture 4" descr="Digital financial graph">
            <a:extLst>
              <a:ext uri="{FF2B5EF4-FFF2-40B4-BE49-F238E27FC236}">
                <a16:creationId xmlns:a16="http://schemas.microsoft.com/office/drawing/2014/main" id="{E33712E4-8C95-C0EB-BC69-8A8D12F80B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89" r="1790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877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92B9B-92D4-32EA-517F-3657C4BB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GB" sz="3600" b="1" i="0">
                <a:effectLst/>
                <a:latin typeface="Söhne"/>
              </a:rPr>
              <a:t>Basic Syntax of Python:</a:t>
            </a:r>
            <a:endParaRPr lang="en-PK" sz="3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2EF38D-F9AA-AAC1-B390-39F7AC39FF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871135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95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8C1C9-E536-2FF3-606C-2F8F34D0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4C3F-8327-F04F-4CE8-CE3550808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564"/>
            <a:ext cx="10515600" cy="4606636"/>
          </a:xfrm>
        </p:spPr>
        <p:txBody>
          <a:bodyPr/>
          <a:lstStyle/>
          <a:p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Python is a dynamically typed language. This means that the Python interpreter infers the type of a variable at runtime based on the value assigned to it, without the need for explicit type declaration</a:t>
            </a:r>
          </a:p>
          <a:p>
            <a:r>
              <a:rPr lang="en-GB" dirty="0">
                <a:solidFill>
                  <a:srgbClr val="374151"/>
                </a:solidFill>
                <a:latin typeface="Söhne"/>
              </a:rPr>
              <a:t>Variables in C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lvl="1"/>
            <a:r>
              <a:rPr lang="en-GB" dirty="0"/>
              <a:t>int a = 10;</a:t>
            </a:r>
          </a:p>
          <a:p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But in Python,</a:t>
            </a:r>
          </a:p>
          <a:p>
            <a:pPr lvl="1"/>
            <a:r>
              <a:rPr lang="en-GB" dirty="0"/>
              <a:t>message = "Hello, World!"</a:t>
            </a:r>
          </a:p>
          <a:p>
            <a:pPr lvl="1"/>
            <a:r>
              <a:rPr lang="en-GB" dirty="0"/>
              <a:t>The interpreter knows message is a string because of the "Hello, World!" value.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64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BrushVTI">
  <a:themeElements>
    <a:clrScheme name="AnalogousFromDarkSeedLeftStep">
      <a:dk1>
        <a:srgbClr val="000000"/>
      </a:dk1>
      <a:lt1>
        <a:srgbClr val="FFFFFF"/>
      </a:lt1>
      <a:dk2>
        <a:srgbClr val="3A3621"/>
      </a:dk2>
      <a:lt2>
        <a:srgbClr val="E8E2E6"/>
      </a:lt2>
      <a:accent1>
        <a:srgbClr val="47B571"/>
      </a:accent1>
      <a:accent2>
        <a:srgbClr val="3FB13B"/>
      </a:accent2>
      <a:accent3>
        <a:srgbClr val="75AF45"/>
      </a:accent3>
      <a:accent4>
        <a:srgbClr val="9AA938"/>
      </a:accent4>
      <a:accent5>
        <a:srgbClr val="BD9D4A"/>
      </a:accent5>
      <a:accent6>
        <a:srgbClr val="B15E3B"/>
      </a:accent6>
      <a:hlink>
        <a:srgbClr val="8E832F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255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Elephant</vt:lpstr>
      <vt:lpstr>Söhne</vt:lpstr>
      <vt:lpstr>BrushVTI</vt:lpstr>
      <vt:lpstr>Getting Started with Python</vt:lpstr>
      <vt:lpstr>What is Python?</vt:lpstr>
      <vt:lpstr>Why is it considered powerful compared to other languages?</vt:lpstr>
      <vt:lpstr>Where is it used?</vt:lpstr>
      <vt:lpstr>Basic Syntax of Python:</vt:lpstr>
      <vt:lpstr>Data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Python</dc:title>
  <dc:creator>Wali Azam</dc:creator>
  <cp:lastModifiedBy>Wali Azam</cp:lastModifiedBy>
  <cp:revision>5</cp:revision>
  <dcterms:created xsi:type="dcterms:W3CDTF">2023-08-16T07:12:26Z</dcterms:created>
  <dcterms:modified xsi:type="dcterms:W3CDTF">2023-08-16T07:52:20Z</dcterms:modified>
</cp:coreProperties>
</file>